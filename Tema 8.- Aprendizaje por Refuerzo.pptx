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9"/>
  </p:notesMasterIdLst>
  <p:sldIdLst>
    <p:sldId id="259" r:id="rId2"/>
    <p:sldId id="350" r:id="rId3"/>
    <p:sldId id="442" r:id="rId4"/>
    <p:sldId id="443" r:id="rId5"/>
    <p:sldId id="444" r:id="rId6"/>
    <p:sldId id="445" r:id="rId7"/>
    <p:sldId id="446" r:id="rId8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FF66"/>
    <a:srgbClr val="34EAE6"/>
    <a:srgbClr val="28F6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4D0698-B9D2-444D-89FF-11E199DFB167}" v="447" dt="2025-11-29T16:33:14.3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09" autoAdjust="0"/>
    <p:restoredTop sz="94660"/>
  </p:normalViewPr>
  <p:slideViewPr>
    <p:cSldViewPr>
      <p:cViewPr varScale="1">
        <p:scale>
          <a:sx n="111" d="100"/>
          <a:sy n="111" d="100"/>
        </p:scale>
        <p:origin x="1470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315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Tesch" userId="88587a9db95d6a10" providerId="LiveId" clId="{0204C6D2-D373-4485-B02D-A39DFD606517}"/>
    <pc:docChg chg="undo custSel addSld delSld modSld sldOrd">
      <pc:chgData name="Jorge Tesch" userId="88587a9db95d6a10" providerId="LiveId" clId="{0204C6D2-D373-4485-B02D-A39DFD606517}" dt="2025-11-29T16:50:44.216" v="827" actId="47"/>
      <pc:docMkLst>
        <pc:docMk/>
      </pc:docMkLst>
      <pc:sldChg chg="modSp">
        <pc:chgData name="Jorge Tesch" userId="88587a9db95d6a10" providerId="LiveId" clId="{0204C6D2-D373-4485-B02D-A39DFD606517}" dt="2025-11-25T14:01:11.875" v="0"/>
        <pc:sldMkLst>
          <pc:docMk/>
          <pc:sldMk cId="3369892711" sldId="259"/>
        </pc:sldMkLst>
        <pc:spChg chg="mod">
          <ac:chgData name="Jorge Tesch" userId="88587a9db95d6a10" providerId="LiveId" clId="{0204C6D2-D373-4485-B02D-A39DFD606517}" dt="2025-11-25T14:01:11.875" v="0"/>
          <ac:spMkLst>
            <pc:docMk/>
            <pc:sldMk cId="3369892711" sldId="259"/>
            <ac:spMk id="3" creationId="{00000000-0000-0000-0000-000000000000}"/>
          </ac:spMkLst>
        </pc:spChg>
      </pc:sldChg>
      <pc:sldChg chg="addSp delSp modSp mod">
        <pc:chgData name="Jorge Tesch" userId="88587a9db95d6a10" providerId="LiveId" clId="{0204C6D2-D373-4485-B02D-A39DFD606517}" dt="2025-11-26T07:33:29.208" v="557" actId="20577"/>
        <pc:sldMkLst>
          <pc:docMk/>
          <pc:sldMk cId="3942861673" sldId="350"/>
        </pc:sldMkLst>
        <pc:spChg chg="mod">
          <ac:chgData name="Jorge Tesch" userId="88587a9db95d6a10" providerId="LiveId" clId="{0204C6D2-D373-4485-B02D-A39DFD606517}" dt="2025-11-26T07:33:29.208" v="557" actId="20577"/>
          <ac:spMkLst>
            <pc:docMk/>
            <pc:sldMk cId="3942861673" sldId="350"/>
            <ac:spMk id="2" creationId="{00000000-0000-0000-0000-000000000000}"/>
          </ac:spMkLst>
        </pc:spChg>
        <pc:spChg chg="mod">
          <ac:chgData name="Jorge Tesch" userId="88587a9db95d6a10" providerId="LiveId" clId="{0204C6D2-D373-4485-B02D-A39DFD606517}" dt="2025-11-25T14:01:20.653" v="1"/>
          <ac:spMkLst>
            <pc:docMk/>
            <pc:sldMk cId="3942861673" sldId="350"/>
            <ac:spMk id="3" creationId="{00000000-0000-0000-0000-000000000000}"/>
          </ac:spMkLst>
        </pc:spChg>
        <pc:spChg chg="mod">
          <ac:chgData name="Jorge Tesch" userId="88587a9db95d6a10" providerId="LiveId" clId="{0204C6D2-D373-4485-B02D-A39DFD606517}" dt="2025-11-25T15:23:19.561" v="18"/>
          <ac:spMkLst>
            <pc:docMk/>
            <pc:sldMk cId="3942861673" sldId="350"/>
            <ac:spMk id="4" creationId="{00000000-0000-0000-0000-000000000000}"/>
          </ac:spMkLst>
        </pc:spChg>
        <pc:spChg chg="add mod">
          <ac:chgData name="Jorge Tesch" userId="88587a9db95d6a10" providerId="LiveId" clId="{0204C6D2-D373-4485-B02D-A39DFD606517}" dt="2025-11-25T15:27:03.311" v="68" actId="1076"/>
          <ac:spMkLst>
            <pc:docMk/>
            <pc:sldMk cId="3942861673" sldId="350"/>
            <ac:spMk id="9" creationId="{8FCDAECB-14F9-A2C9-7018-9D901C3CFCFF}"/>
          </ac:spMkLst>
        </pc:spChg>
        <pc:picChg chg="add mod">
          <ac:chgData name="Jorge Tesch" userId="88587a9db95d6a10" providerId="LiveId" clId="{0204C6D2-D373-4485-B02D-A39DFD606517}" dt="2025-11-25T15:27:00.825" v="67" actId="1076"/>
          <ac:picMkLst>
            <pc:docMk/>
            <pc:sldMk cId="3942861673" sldId="350"/>
            <ac:picMk id="8" creationId="{30F02AE7-523B-48BE-E935-CE217CC14B73}"/>
          </ac:picMkLst>
        </pc:picChg>
      </pc:sldChg>
      <pc:sldChg chg="modSp del">
        <pc:chgData name="Jorge Tesch" userId="88587a9db95d6a10" providerId="LiveId" clId="{0204C6D2-D373-4485-B02D-A39DFD606517}" dt="2025-11-29T16:50:44.216" v="827" actId="47"/>
        <pc:sldMkLst>
          <pc:docMk/>
          <pc:sldMk cId="634568886" sldId="441"/>
        </pc:sldMkLst>
      </pc:sldChg>
      <pc:sldChg chg="addSp delSp modSp add mod">
        <pc:chgData name="Jorge Tesch" userId="88587a9db95d6a10" providerId="LiveId" clId="{0204C6D2-D373-4485-B02D-A39DFD606517}" dt="2025-11-25T15:34:20.742" v="149" actId="1076"/>
        <pc:sldMkLst>
          <pc:docMk/>
          <pc:sldMk cId="956831931" sldId="442"/>
        </pc:sldMkLst>
        <pc:spChg chg="mod">
          <ac:chgData name="Jorge Tesch" userId="88587a9db95d6a10" providerId="LiveId" clId="{0204C6D2-D373-4485-B02D-A39DFD606517}" dt="2025-11-25T15:34:20.742" v="149" actId="1076"/>
          <ac:spMkLst>
            <pc:docMk/>
            <pc:sldMk cId="956831931" sldId="442"/>
            <ac:spMk id="2" creationId="{147DDB14-648B-D8CD-C67F-403F7F140C19}"/>
          </ac:spMkLst>
        </pc:spChg>
        <pc:spChg chg="mod">
          <ac:chgData name="Jorge Tesch" userId="88587a9db95d6a10" providerId="LiveId" clId="{0204C6D2-D373-4485-B02D-A39DFD606517}" dt="2025-11-25T15:27:49.906" v="71"/>
          <ac:spMkLst>
            <pc:docMk/>
            <pc:sldMk cId="956831931" sldId="442"/>
            <ac:spMk id="4" creationId="{90C6EDBF-29B1-462C-576E-FF0CB2C91793}"/>
          </ac:spMkLst>
        </pc:spChg>
        <pc:spChg chg="add mod">
          <ac:chgData name="Jorge Tesch" userId="88587a9db95d6a10" providerId="LiveId" clId="{0204C6D2-D373-4485-B02D-A39DFD606517}" dt="2025-11-25T15:33:55.157" v="145" actId="1076"/>
          <ac:spMkLst>
            <pc:docMk/>
            <pc:sldMk cId="956831931" sldId="442"/>
            <ac:spMk id="10" creationId="{45BD9423-5606-AA6E-F5F7-E8DC410F311E}"/>
          </ac:spMkLst>
        </pc:spChg>
        <pc:spChg chg="add mod">
          <ac:chgData name="Jorge Tesch" userId="88587a9db95d6a10" providerId="LiveId" clId="{0204C6D2-D373-4485-B02D-A39DFD606517}" dt="2025-11-25T15:34:02.070" v="147" actId="1076"/>
          <ac:spMkLst>
            <pc:docMk/>
            <pc:sldMk cId="956831931" sldId="442"/>
            <ac:spMk id="11" creationId="{E6D4E09A-2015-6E26-AF27-C440AAE20065}"/>
          </ac:spMkLst>
        </pc:spChg>
        <pc:picChg chg="mod">
          <ac:chgData name="Jorge Tesch" userId="88587a9db95d6a10" providerId="LiveId" clId="{0204C6D2-D373-4485-B02D-A39DFD606517}" dt="2025-11-25T15:33:28.727" v="137" actId="1076"/>
          <ac:picMkLst>
            <pc:docMk/>
            <pc:sldMk cId="956831931" sldId="442"/>
            <ac:picMk id="5" creationId="{E5295661-2F6C-8D5F-EFBD-2F0F673B283D}"/>
          </ac:picMkLst>
        </pc:picChg>
        <pc:picChg chg="add mod">
          <ac:chgData name="Jorge Tesch" userId="88587a9db95d6a10" providerId="LiveId" clId="{0204C6D2-D373-4485-B02D-A39DFD606517}" dt="2025-11-25T15:32:42.560" v="129" actId="1076"/>
          <ac:picMkLst>
            <pc:docMk/>
            <pc:sldMk cId="956831931" sldId="442"/>
            <ac:picMk id="2050" creationId="{D2A2BFBC-58DE-4076-53B4-08131EDCC33F}"/>
          </ac:picMkLst>
        </pc:picChg>
        <pc:picChg chg="add mod">
          <ac:chgData name="Jorge Tesch" userId="88587a9db95d6a10" providerId="LiveId" clId="{0204C6D2-D373-4485-B02D-A39DFD606517}" dt="2025-11-25T15:34:05.638" v="148" actId="1076"/>
          <ac:picMkLst>
            <pc:docMk/>
            <pc:sldMk cId="956831931" sldId="442"/>
            <ac:picMk id="2052" creationId="{E5E3D6F9-A846-DF80-EA90-FB51FE38B20D}"/>
          </ac:picMkLst>
        </pc:picChg>
      </pc:sldChg>
      <pc:sldChg chg="addSp delSp modSp add mod ord">
        <pc:chgData name="Jorge Tesch" userId="88587a9db95d6a10" providerId="LiveId" clId="{0204C6D2-D373-4485-B02D-A39DFD606517}" dt="2025-11-26T07:43:36.259" v="561" actId="20577"/>
        <pc:sldMkLst>
          <pc:docMk/>
          <pc:sldMk cId="2859312198" sldId="443"/>
        </pc:sldMkLst>
        <pc:spChg chg="mod">
          <ac:chgData name="Jorge Tesch" userId="88587a9db95d6a10" providerId="LiveId" clId="{0204C6D2-D373-4485-B02D-A39DFD606517}" dt="2025-11-25T15:54:02.304" v="153"/>
          <ac:spMkLst>
            <pc:docMk/>
            <pc:sldMk cId="2859312198" sldId="443"/>
            <ac:spMk id="4" creationId="{2B548024-DADC-CF0E-4AFC-8472954C4D6A}"/>
          </ac:spMkLst>
        </pc:spChg>
        <pc:graphicFrameChg chg="add mod ord modGraphic">
          <ac:chgData name="Jorge Tesch" userId="88587a9db95d6a10" providerId="LiveId" clId="{0204C6D2-D373-4485-B02D-A39DFD606517}" dt="2025-11-26T07:43:36.259" v="561" actId="20577"/>
          <ac:graphicFrameMkLst>
            <pc:docMk/>
            <pc:sldMk cId="2859312198" sldId="443"/>
            <ac:graphicFrameMk id="5" creationId="{E10CBFDE-F2B9-BF27-A1D5-1E3D7B6A2C2D}"/>
          </ac:graphicFrameMkLst>
        </pc:graphicFrameChg>
      </pc:sldChg>
      <pc:sldChg chg="addSp delSp modSp add mod ord">
        <pc:chgData name="Jorge Tesch" userId="88587a9db95d6a10" providerId="LiveId" clId="{0204C6D2-D373-4485-B02D-A39DFD606517}" dt="2025-11-25T16:15:19.568" v="319" actId="1076"/>
        <pc:sldMkLst>
          <pc:docMk/>
          <pc:sldMk cId="2100135978" sldId="444"/>
        </pc:sldMkLst>
        <pc:spChg chg="mod">
          <ac:chgData name="Jorge Tesch" userId="88587a9db95d6a10" providerId="LiveId" clId="{0204C6D2-D373-4485-B02D-A39DFD606517}" dt="2025-11-25T16:14:36.922" v="310" actId="1076"/>
          <ac:spMkLst>
            <pc:docMk/>
            <pc:sldMk cId="2100135978" sldId="444"/>
            <ac:spMk id="2" creationId="{21339CEB-9795-064D-6A95-AD23750F56A6}"/>
          </ac:spMkLst>
        </pc:spChg>
        <pc:spChg chg="mod">
          <ac:chgData name="Jorge Tesch" userId="88587a9db95d6a10" providerId="LiveId" clId="{0204C6D2-D373-4485-B02D-A39DFD606517}" dt="2025-11-25T16:08:35.740" v="227"/>
          <ac:spMkLst>
            <pc:docMk/>
            <pc:sldMk cId="2100135978" sldId="444"/>
            <ac:spMk id="4" creationId="{69879A50-0522-2708-1C98-34C3D7A3C04A}"/>
          </ac:spMkLst>
        </pc:spChg>
        <pc:spChg chg="add mod">
          <ac:chgData name="Jorge Tesch" userId="88587a9db95d6a10" providerId="LiveId" clId="{0204C6D2-D373-4485-B02D-A39DFD606517}" dt="2025-11-25T16:14:40.685" v="311" actId="1076"/>
          <ac:spMkLst>
            <pc:docMk/>
            <pc:sldMk cId="2100135978" sldId="444"/>
            <ac:spMk id="6" creationId="{6196B4FA-EC20-8F01-6E26-E1FA2EECA90F}"/>
          </ac:spMkLst>
        </pc:spChg>
        <pc:picChg chg="add mod">
          <ac:chgData name="Jorge Tesch" userId="88587a9db95d6a10" providerId="LiveId" clId="{0204C6D2-D373-4485-B02D-A39DFD606517}" dt="2025-11-25T16:15:19.568" v="319" actId="1076"/>
          <ac:picMkLst>
            <pc:docMk/>
            <pc:sldMk cId="2100135978" sldId="444"/>
            <ac:picMk id="10" creationId="{87968908-9CE3-88D3-8BDD-04F7FD254B48}"/>
          </ac:picMkLst>
        </pc:picChg>
        <pc:picChg chg="add mod">
          <ac:chgData name="Jorge Tesch" userId="88587a9db95d6a10" providerId="LiveId" clId="{0204C6D2-D373-4485-B02D-A39DFD606517}" dt="2025-11-25T16:15:13.324" v="318" actId="1076"/>
          <ac:picMkLst>
            <pc:docMk/>
            <pc:sldMk cId="2100135978" sldId="444"/>
            <ac:picMk id="3074" creationId="{E5B9A932-1091-7106-E390-9682FD49897F}"/>
          </ac:picMkLst>
        </pc:picChg>
      </pc:sldChg>
      <pc:sldChg chg="addSp delSp modSp add mod">
        <pc:chgData name="Jorge Tesch" userId="88587a9db95d6a10" providerId="LiveId" clId="{0204C6D2-D373-4485-B02D-A39DFD606517}" dt="2025-11-25T16:44:07.141" v="552" actId="1076"/>
        <pc:sldMkLst>
          <pc:docMk/>
          <pc:sldMk cId="379579551" sldId="445"/>
        </pc:sldMkLst>
        <pc:spChg chg="mod">
          <ac:chgData name="Jorge Tesch" userId="88587a9db95d6a10" providerId="LiveId" clId="{0204C6D2-D373-4485-B02D-A39DFD606517}" dt="2025-11-25T16:43:46.998" v="542" actId="20577"/>
          <ac:spMkLst>
            <pc:docMk/>
            <pc:sldMk cId="379579551" sldId="445"/>
            <ac:spMk id="2" creationId="{4DB48694-4EAA-70FD-03B2-C4F219C10A21}"/>
          </ac:spMkLst>
        </pc:spChg>
        <pc:spChg chg="mod">
          <ac:chgData name="Jorge Tesch" userId="88587a9db95d6a10" providerId="LiveId" clId="{0204C6D2-D373-4485-B02D-A39DFD606517}" dt="2025-11-25T16:35:09.016" v="322"/>
          <ac:spMkLst>
            <pc:docMk/>
            <pc:sldMk cId="379579551" sldId="445"/>
            <ac:spMk id="4" creationId="{FC5F559B-310D-D748-DD49-DD88C75B6062}"/>
          </ac:spMkLst>
        </pc:spChg>
        <pc:picChg chg="add mod">
          <ac:chgData name="Jorge Tesch" userId="88587a9db95d6a10" providerId="LiveId" clId="{0204C6D2-D373-4485-B02D-A39DFD606517}" dt="2025-11-25T16:44:07.141" v="552" actId="1076"/>
          <ac:picMkLst>
            <pc:docMk/>
            <pc:sldMk cId="379579551" sldId="445"/>
            <ac:picMk id="7" creationId="{272C0703-4769-00B4-D59C-7758A7720B7E}"/>
          </ac:picMkLst>
        </pc:picChg>
        <pc:picChg chg="mod">
          <ac:chgData name="Jorge Tesch" userId="88587a9db95d6a10" providerId="LiveId" clId="{0204C6D2-D373-4485-B02D-A39DFD606517}" dt="2025-11-25T16:44:03.584" v="550" actId="1076"/>
          <ac:picMkLst>
            <pc:docMk/>
            <pc:sldMk cId="379579551" sldId="445"/>
            <ac:picMk id="10" creationId="{424D0CC5-4886-772D-D1D6-3D4055500044}"/>
          </ac:picMkLst>
        </pc:picChg>
      </pc:sldChg>
      <pc:sldChg chg="delSp modSp add mod">
        <pc:chgData name="Jorge Tesch" userId="88587a9db95d6a10" providerId="LiveId" clId="{0204C6D2-D373-4485-B02D-A39DFD606517}" dt="2025-11-29T16:33:19.869" v="826" actId="1076"/>
        <pc:sldMkLst>
          <pc:docMk/>
          <pc:sldMk cId="1166736474" sldId="446"/>
        </pc:sldMkLst>
        <pc:spChg chg="mod">
          <ac:chgData name="Jorge Tesch" userId="88587a9db95d6a10" providerId="LiveId" clId="{0204C6D2-D373-4485-B02D-A39DFD606517}" dt="2025-11-29T16:33:14.375" v="825" actId="20577"/>
          <ac:spMkLst>
            <pc:docMk/>
            <pc:sldMk cId="1166736474" sldId="446"/>
            <ac:spMk id="2" creationId="{54104D1E-1859-D2C0-370B-9B0A1F22AD39}"/>
          </ac:spMkLst>
        </pc:spChg>
        <pc:spChg chg="mod">
          <ac:chgData name="Jorge Tesch" userId="88587a9db95d6a10" providerId="LiveId" clId="{0204C6D2-D373-4485-B02D-A39DFD606517}" dt="2025-11-29T16:24:20.993" v="565"/>
          <ac:spMkLst>
            <pc:docMk/>
            <pc:sldMk cId="1166736474" sldId="446"/>
            <ac:spMk id="4" creationId="{FECBCCA2-4EF7-244C-F751-CCE2D4C72B89}"/>
          </ac:spMkLst>
        </pc:spChg>
        <pc:picChg chg="mod">
          <ac:chgData name="Jorge Tesch" userId="88587a9db95d6a10" providerId="LiveId" clId="{0204C6D2-D373-4485-B02D-A39DFD606517}" dt="2025-11-29T16:33:19.869" v="826" actId="1076"/>
          <ac:picMkLst>
            <pc:docMk/>
            <pc:sldMk cId="1166736474" sldId="446"/>
            <ac:picMk id="5" creationId="{31319003-DA0C-B414-6D57-22F33FAEC7A1}"/>
          </ac:picMkLst>
        </pc:picChg>
        <pc:picChg chg="del">
          <ac:chgData name="Jorge Tesch" userId="88587a9db95d6a10" providerId="LiveId" clId="{0204C6D2-D373-4485-B02D-A39DFD606517}" dt="2025-11-29T16:24:08.110" v="563" actId="478"/>
          <ac:picMkLst>
            <pc:docMk/>
            <pc:sldMk cId="1166736474" sldId="446"/>
            <ac:picMk id="7" creationId="{3CCE9C81-E602-63EA-CDC4-A66F0EB7D039}"/>
          </ac:picMkLst>
        </pc:picChg>
        <pc:picChg chg="del">
          <ac:chgData name="Jorge Tesch" userId="88587a9db95d6a10" providerId="LiveId" clId="{0204C6D2-D373-4485-B02D-A39DFD606517}" dt="2025-11-29T16:24:08.767" v="564" actId="478"/>
          <ac:picMkLst>
            <pc:docMk/>
            <pc:sldMk cId="1166736474" sldId="446"/>
            <ac:picMk id="10" creationId="{C9DD16BE-F9DE-35C4-A780-2D25CF78B688}"/>
          </ac:picMkLst>
        </pc:picChg>
      </pc:sldChg>
    </pc:docChg>
  </pc:docChgLst>
  <pc:docChgLst>
    <pc:chgData name="Jorge Tesch" userId="88587a9db95d6a10" providerId="LiveId" clId="{75E349A1-14B8-41D6-A219-441188B8CB11}"/>
    <pc:docChg chg="custSel modSld sldOrd">
      <pc:chgData name="Jorge Tesch" userId="88587a9db95d6a10" providerId="LiveId" clId="{75E349A1-14B8-41D6-A219-441188B8CB11}" dt="2025-11-24T08:17:41.878" v="12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628EB8-949E-4A49-BCFC-D69CB43FA443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26A500-1DA6-4541-BE61-DEBA7B3304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6110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916832"/>
            <a:ext cx="7315200" cy="1944215"/>
          </a:xfrm>
        </p:spPr>
        <p:txBody>
          <a:bodyPr>
            <a:normAutofit/>
          </a:bodyPr>
          <a:lstStyle>
            <a:lvl1pPr algn="ctr">
              <a:defRPr sz="36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735796" y="5013176"/>
            <a:ext cx="3672408" cy="720080"/>
          </a:xfrm>
        </p:spPr>
        <p:txBody>
          <a:bodyPr>
            <a:normAutofit/>
          </a:bodyPr>
          <a:lstStyle>
            <a:lvl1pPr marL="0" indent="0" algn="ctr">
              <a:buNone/>
              <a:defRPr sz="160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Profesor / Curso académico: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914400" y="4077072"/>
            <a:ext cx="7315200" cy="526424"/>
          </a:xfr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ASIGNATURA</a:t>
            </a:r>
          </a:p>
        </p:txBody>
      </p:sp>
      <p:pic>
        <p:nvPicPr>
          <p:cNvPr id="1026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04664"/>
            <a:ext cx="3309791" cy="1242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9"/>
          <p:cNvSpPr/>
          <p:nvPr userDrawn="1"/>
        </p:nvSpPr>
        <p:spPr>
          <a:xfrm>
            <a:off x="8435268" y="213845"/>
            <a:ext cx="86236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0"/>
          <p:cNvSpPr/>
          <p:nvPr userDrawn="1"/>
        </p:nvSpPr>
        <p:spPr>
          <a:xfrm>
            <a:off x="8569419" y="213845"/>
            <a:ext cx="576072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Discreta-1. Lógica</a:t>
            </a:r>
          </a:p>
        </p:txBody>
      </p:sp>
      <p:sp>
        <p:nvSpPr>
          <p:cNvPr id="16" name="15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18" name="5 Marcador de número de diapositiva"/>
          <p:cNvSpPr txBox="1">
            <a:spLocks/>
          </p:cNvSpPr>
          <p:nvPr userDrawn="1"/>
        </p:nvSpPr>
        <p:spPr>
          <a:xfrm>
            <a:off x="8532438" y="404664"/>
            <a:ext cx="596305" cy="365125"/>
          </a:xfrm>
          <a:prstGeom prst="rect">
            <a:avLst/>
          </a:prstGeom>
        </p:spPr>
        <p:txBody>
          <a:bodyPr anchor="ctr"/>
          <a:lstStyle>
            <a:defPPr>
              <a:defRPr lang="es-E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5034FA-E3E3-464F-AB21-ECE51F6ED024}" type="slidenum">
              <a:rPr lang="es-ES" sz="1400" b="0" smtClean="0"/>
              <a:pPr algn="ctr"/>
              <a:t>‹Nº›</a:t>
            </a:fld>
            <a:endParaRPr lang="es-ES" sz="1400" b="0" dirty="0"/>
          </a:p>
        </p:txBody>
      </p:sp>
      <p:pic>
        <p:nvPicPr>
          <p:cNvPr id="11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99254"/>
            <a:ext cx="1654895" cy="62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11 Conector recto"/>
          <p:cNvCxnSpPr/>
          <p:nvPr userDrawn="1"/>
        </p:nvCxnSpPr>
        <p:spPr>
          <a:xfrm>
            <a:off x="251520" y="1988840"/>
            <a:ext cx="8605935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/>
          <p:cNvSpPr/>
          <p:nvPr userDrawn="1"/>
        </p:nvSpPr>
        <p:spPr>
          <a:xfrm>
            <a:off x="8435268" y="213845"/>
            <a:ext cx="86236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0"/>
          <p:cNvSpPr/>
          <p:nvPr userDrawn="1"/>
        </p:nvSpPr>
        <p:spPr>
          <a:xfrm>
            <a:off x="8569419" y="213845"/>
            <a:ext cx="576072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205178"/>
            <a:ext cx="3566160" cy="4131614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204864"/>
            <a:ext cx="3566160" cy="413402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1519" y="1268760"/>
            <a:ext cx="8605935" cy="72008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cxnSp>
        <p:nvCxnSpPr>
          <p:cNvPr id="12" name="11 Conector recto"/>
          <p:cNvCxnSpPr/>
          <p:nvPr userDrawn="1"/>
        </p:nvCxnSpPr>
        <p:spPr>
          <a:xfrm>
            <a:off x="251520" y="1988840"/>
            <a:ext cx="8605935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Discreta-1. Lógica</a:t>
            </a:r>
          </a:p>
        </p:txBody>
      </p:sp>
      <p:sp>
        <p:nvSpPr>
          <p:cNvPr id="21" name="5 Marcador de número de diapositiva"/>
          <p:cNvSpPr txBox="1">
            <a:spLocks/>
          </p:cNvSpPr>
          <p:nvPr userDrawn="1"/>
        </p:nvSpPr>
        <p:spPr>
          <a:xfrm>
            <a:off x="8532438" y="404664"/>
            <a:ext cx="596305" cy="365125"/>
          </a:xfrm>
          <a:prstGeom prst="rect">
            <a:avLst/>
          </a:prstGeom>
        </p:spPr>
        <p:txBody>
          <a:bodyPr anchor="ctr"/>
          <a:lstStyle>
            <a:defPPr>
              <a:defRPr lang="es-E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5034FA-E3E3-464F-AB21-ECE51F6ED024}" type="slidenum">
              <a:rPr lang="es-ES" sz="1400" b="0" smtClean="0"/>
              <a:pPr algn="ctr"/>
              <a:t>‹Nº›</a:t>
            </a:fld>
            <a:endParaRPr lang="es-ES" sz="1400" b="0" dirty="0"/>
          </a:p>
        </p:txBody>
      </p:sp>
      <p:pic>
        <p:nvPicPr>
          <p:cNvPr id="13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99254"/>
            <a:ext cx="1654895" cy="62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9"/>
          <p:cNvSpPr/>
          <p:nvPr userDrawn="1"/>
        </p:nvSpPr>
        <p:spPr>
          <a:xfrm>
            <a:off x="8435268" y="213845"/>
            <a:ext cx="86236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/>
          <p:cNvSpPr/>
          <p:nvPr userDrawn="1"/>
        </p:nvSpPr>
        <p:spPr>
          <a:xfrm>
            <a:off x="8569419" y="213845"/>
            <a:ext cx="576072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cxnSp>
        <p:nvCxnSpPr>
          <p:cNvPr id="10" name="9 Conector recto"/>
          <p:cNvCxnSpPr/>
          <p:nvPr userDrawn="1"/>
        </p:nvCxnSpPr>
        <p:spPr>
          <a:xfrm>
            <a:off x="251520" y="1988840"/>
            <a:ext cx="8605935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Discreta-1. Lógica</a:t>
            </a:r>
          </a:p>
        </p:txBody>
      </p:sp>
      <p:sp>
        <p:nvSpPr>
          <p:cNvPr id="15" name="5 Marcador de número de diapositiva"/>
          <p:cNvSpPr txBox="1">
            <a:spLocks/>
          </p:cNvSpPr>
          <p:nvPr userDrawn="1"/>
        </p:nvSpPr>
        <p:spPr>
          <a:xfrm>
            <a:off x="8532438" y="404664"/>
            <a:ext cx="596305" cy="365125"/>
          </a:xfrm>
          <a:prstGeom prst="rect">
            <a:avLst/>
          </a:prstGeom>
        </p:spPr>
        <p:txBody>
          <a:bodyPr anchor="ctr"/>
          <a:lstStyle>
            <a:defPPr>
              <a:defRPr lang="es-E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5034FA-E3E3-464F-AB21-ECE51F6ED024}" type="slidenum">
              <a:rPr lang="es-ES" sz="1400" b="0" smtClean="0"/>
              <a:pPr algn="ctr"/>
              <a:t>‹Nº›</a:t>
            </a:fld>
            <a:endParaRPr lang="es-ES" sz="1400" b="0" dirty="0"/>
          </a:p>
        </p:txBody>
      </p:sp>
      <p:pic>
        <p:nvPicPr>
          <p:cNvPr id="9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99254"/>
            <a:ext cx="1654895" cy="62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/>
          <p:cNvSpPr/>
          <p:nvPr userDrawn="1"/>
        </p:nvSpPr>
        <p:spPr>
          <a:xfrm>
            <a:off x="8435268" y="213845"/>
            <a:ext cx="86236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/>
          <p:cNvSpPr/>
          <p:nvPr userDrawn="1"/>
        </p:nvSpPr>
        <p:spPr>
          <a:xfrm>
            <a:off x="8569419" y="213845"/>
            <a:ext cx="576072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Discreta-1. Lógica</a:t>
            </a:r>
          </a:p>
        </p:txBody>
      </p:sp>
      <p:sp>
        <p:nvSpPr>
          <p:cNvPr id="11" name="5 Marcador de número de diapositiva"/>
          <p:cNvSpPr txBox="1">
            <a:spLocks/>
          </p:cNvSpPr>
          <p:nvPr userDrawn="1"/>
        </p:nvSpPr>
        <p:spPr>
          <a:xfrm>
            <a:off x="8532438" y="404664"/>
            <a:ext cx="596305" cy="365125"/>
          </a:xfrm>
          <a:prstGeom prst="rect">
            <a:avLst/>
          </a:prstGeom>
        </p:spPr>
        <p:txBody>
          <a:bodyPr anchor="ctr"/>
          <a:lstStyle>
            <a:defPPr>
              <a:defRPr lang="es-E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5034FA-E3E3-464F-AB21-ECE51F6ED024}" type="slidenum">
              <a:rPr lang="es-ES" sz="1400" b="0" smtClean="0"/>
              <a:pPr algn="ctr"/>
              <a:t>‹Nº›</a:t>
            </a:fld>
            <a:endParaRPr lang="es-ES" sz="1400" b="0" dirty="0"/>
          </a:p>
        </p:txBody>
      </p:sp>
      <p:pic>
        <p:nvPicPr>
          <p:cNvPr id="7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99254"/>
            <a:ext cx="1654895" cy="62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EAE6">
            <a:alpha val="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519" y="1268760"/>
            <a:ext cx="8605935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19" y="2276873"/>
            <a:ext cx="8605935" cy="4032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Discreta-1. Lógica</a:t>
            </a:r>
          </a:p>
        </p:txBody>
      </p:sp>
      <p:sp>
        <p:nvSpPr>
          <p:cNvPr id="15" name="14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567936" y="476672"/>
            <a:ext cx="576064" cy="30175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s-ES"/>
              <a:t>Nº</a:t>
            </a:r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6" r:id="rId3"/>
    <p:sldLayoutId id="2147483798" r:id="rId4"/>
    <p:sldLayoutId id="2147483799" r:id="rId5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ctrTitle"/>
          </p:nvPr>
        </p:nvSpPr>
        <p:spPr>
          <a:xfrm>
            <a:off x="914400" y="2083217"/>
            <a:ext cx="7315200" cy="1944215"/>
          </a:xfrm>
        </p:spPr>
        <p:txBody>
          <a:bodyPr/>
          <a:lstStyle/>
          <a:p>
            <a:r>
              <a:rPr lang="es-ES" noProof="1"/>
              <a:t>Tema 8.- Aprendizaje por Refuerzo</a:t>
            </a:r>
          </a:p>
        </p:txBody>
      </p:sp>
      <p:sp>
        <p:nvSpPr>
          <p:cNvPr id="4" name="3 Subtítulo"/>
          <p:cNvSpPr>
            <a:spLocks noGrp="1"/>
          </p:cNvSpPr>
          <p:nvPr>
            <p:ph type="subTitle" idx="1"/>
          </p:nvPr>
        </p:nvSpPr>
        <p:spPr>
          <a:xfrm>
            <a:off x="2735796" y="4669348"/>
            <a:ext cx="3672408" cy="720080"/>
          </a:xfrm>
        </p:spPr>
        <p:txBody>
          <a:bodyPr>
            <a:normAutofit/>
          </a:bodyPr>
          <a:lstStyle/>
          <a:p>
            <a:r>
              <a:rPr lang="es-ES" sz="1800" noProof="1"/>
              <a:t>Jorge Tesch Torres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idx="11"/>
          </p:nvPr>
        </p:nvSpPr>
        <p:spPr/>
        <p:txBody>
          <a:bodyPr>
            <a:normAutofit/>
          </a:bodyPr>
          <a:lstStyle/>
          <a:p>
            <a:r>
              <a:rPr lang="es-ES" sz="2800" noProof="1"/>
              <a:t>Inteligencia Artificial</a:t>
            </a:r>
          </a:p>
        </p:txBody>
      </p:sp>
    </p:spTree>
    <p:extLst>
      <p:ext uri="{BB962C8B-B14F-4D97-AF65-F5344CB8AC3E}">
        <p14:creationId xmlns:p14="http://schemas.microsoft.com/office/powerpoint/2010/main" val="3369892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269032" y="2132856"/>
            <a:ext cx="8605935" cy="4608511"/>
          </a:xfrm>
        </p:spPr>
        <p:txBody>
          <a:bodyPr>
            <a:normAutofit/>
          </a:bodyPr>
          <a:lstStyle/>
          <a:p>
            <a:r>
              <a:rPr lang="es-ES" sz="1600" dirty="0"/>
              <a:t>Es un paradigma en el que un </a:t>
            </a:r>
            <a:r>
              <a:rPr lang="es-ES" sz="1600" b="1" dirty="0"/>
              <a:t>agente</a:t>
            </a:r>
            <a:r>
              <a:rPr lang="es-ES" sz="1600" dirty="0"/>
              <a:t> aprende a tomar decisiones </a:t>
            </a:r>
            <a:r>
              <a:rPr lang="es-ES" sz="1600" b="1" dirty="0"/>
              <a:t>interactuando</a:t>
            </a:r>
            <a:r>
              <a:rPr lang="es-ES" sz="1600" dirty="0"/>
              <a:t> con un </a:t>
            </a:r>
            <a:r>
              <a:rPr lang="es-ES" sz="1600" b="1" dirty="0"/>
              <a:t>entorno</a:t>
            </a:r>
            <a:r>
              <a:rPr lang="es-ES" sz="1600" dirty="0"/>
              <a:t>, con el objetivo de </a:t>
            </a:r>
            <a:r>
              <a:rPr lang="es-ES" sz="1600" b="1" dirty="0"/>
              <a:t>maximizar una recompensa acumulada</a:t>
            </a:r>
            <a:r>
              <a:rPr lang="es-ES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s-ES" sz="1600" b="1" dirty="0"/>
              <a:t>Comparación con otros tipos de aprendizaje</a:t>
            </a:r>
            <a:r>
              <a:rPr lang="es-ES" sz="1600" dirty="0"/>
              <a:t>:</a:t>
            </a:r>
          </a:p>
          <a:p>
            <a:r>
              <a:rPr lang="es-ES" sz="1600" b="1" dirty="0"/>
              <a:t>Supervisado</a:t>
            </a:r>
            <a:r>
              <a:rPr lang="es-ES" sz="1600" dirty="0"/>
              <a:t>:</a:t>
            </a:r>
          </a:p>
          <a:p>
            <a:pPr lvl="1"/>
            <a:r>
              <a:rPr lang="es-ES" sz="1400" dirty="0"/>
              <a:t>Aprende a partir de ejemplos etiquetados. (x → y)</a:t>
            </a:r>
          </a:p>
          <a:p>
            <a:r>
              <a:rPr lang="es-ES" sz="1600" b="1" dirty="0"/>
              <a:t>No supervisado</a:t>
            </a:r>
            <a:r>
              <a:rPr lang="es-ES" sz="1600" dirty="0"/>
              <a:t>:</a:t>
            </a:r>
          </a:p>
          <a:p>
            <a:pPr lvl="1"/>
            <a:r>
              <a:rPr lang="es-ES" sz="1400" dirty="0"/>
              <a:t>Encuentra patrones sin etiquetas. (clustering, PCA…)</a:t>
            </a:r>
          </a:p>
          <a:p>
            <a:r>
              <a:rPr lang="es-ES" sz="1600" b="1" dirty="0"/>
              <a:t>Aprendizaje por Refuerzo</a:t>
            </a:r>
            <a:r>
              <a:rPr lang="es-ES" sz="1600" dirty="0"/>
              <a:t>:</a:t>
            </a:r>
          </a:p>
          <a:p>
            <a:pPr lvl="1"/>
            <a:r>
              <a:rPr lang="es-ES" sz="1400" dirty="0"/>
              <a:t>Aprende haciendo, probando acciones, recibiendo recompensas o castigos, y mejorando su política de decisión.</a:t>
            </a:r>
            <a:endParaRPr lang="es-ES" sz="1400" noProof="1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8.- Aprendizaje por Refuerzo</a:t>
            </a:r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el Aprendizaje por Refuerzo (RL)?</a:t>
            </a:r>
            <a:endParaRPr lang="es-ES" noProof="1"/>
          </a:p>
        </p:txBody>
      </p:sp>
      <p:pic>
        <p:nvPicPr>
          <p:cNvPr id="8" name="Picture 2" descr="What is reinforcement learning? | IBM">
            <a:extLst>
              <a:ext uri="{FF2B5EF4-FFF2-40B4-BE49-F238E27FC236}">
                <a16:creationId xmlns:a16="http://schemas.microsoft.com/office/drawing/2014/main" id="{30F02AE7-523B-48BE-E935-CE217CC14B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6" t="12251" r="8263" b="12219"/>
          <a:stretch>
            <a:fillRect/>
          </a:stretch>
        </p:blipFill>
        <p:spPr bwMode="auto">
          <a:xfrm>
            <a:off x="5109703" y="4844228"/>
            <a:ext cx="3654894" cy="1778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Marcador de contenido 1">
            <a:extLst>
              <a:ext uri="{FF2B5EF4-FFF2-40B4-BE49-F238E27FC236}">
                <a16:creationId xmlns:a16="http://schemas.microsoft.com/office/drawing/2014/main" id="{8FCDAECB-14F9-A2C9-7018-9D901C3CFCFF}"/>
              </a:ext>
            </a:extLst>
          </p:cNvPr>
          <p:cNvSpPr txBox="1">
            <a:spLocks/>
          </p:cNvSpPr>
          <p:nvPr/>
        </p:nvSpPr>
        <p:spPr>
          <a:xfrm>
            <a:off x="264318" y="5301208"/>
            <a:ext cx="4735015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dirty="0"/>
              <a:t>El agente no aprende de datos estáticos, sino </a:t>
            </a:r>
            <a:r>
              <a:rPr lang="es-ES" sz="1600" b="1" dirty="0"/>
              <a:t>de experiencia</a:t>
            </a:r>
            <a:r>
              <a:rPr lang="es-ES" sz="1600" dirty="0"/>
              <a:t>, como un humano aprendiendo a montar en bici o a jugar ajedrez.</a:t>
            </a:r>
            <a:endParaRPr lang="es-ES" sz="1400" noProof="1"/>
          </a:p>
        </p:txBody>
      </p:sp>
    </p:spTree>
    <p:extLst>
      <p:ext uri="{BB962C8B-B14F-4D97-AF65-F5344CB8AC3E}">
        <p14:creationId xmlns:p14="http://schemas.microsoft.com/office/powerpoint/2010/main" val="3942861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92707-7C05-3697-6BB3-6D36B1B22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147DDB14-648B-D8CD-C67F-403F7F140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033" y="2088000"/>
            <a:ext cx="8605934" cy="4680519"/>
          </a:xfrm>
        </p:spPr>
        <p:txBody>
          <a:bodyPr>
            <a:normAutofit/>
          </a:bodyPr>
          <a:lstStyle/>
          <a:p>
            <a:r>
              <a:rPr lang="es-ES" sz="1600" b="1" dirty="0"/>
              <a:t>1959 – Arthur Samuel (IBM)</a:t>
            </a:r>
          </a:p>
          <a:p>
            <a:pPr lvl="1"/>
            <a:r>
              <a:rPr lang="es-ES" sz="1400" dirty="0"/>
              <a:t>Primer sistema que “aprendía” a jugar a las damas mediante autoentrenamiento.</a:t>
            </a:r>
          </a:p>
          <a:p>
            <a:r>
              <a:rPr lang="es-ES" sz="1600" b="1" dirty="0"/>
              <a:t>1997 – IBM Deep Blue</a:t>
            </a:r>
          </a:p>
          <a:p>
            <a:pPr lvl="1"/>
            <a:r>
              <a:rPr lang="es-ES" sz="1400" dirty="0"/>
              <a:t>Aunque no era RL, marcó el camino hacia agentes de decisión compleja.</a:t>
            </a:r>
          </a:p>
          <a:p>
            <a:r>
              <a:rPr lang="es-ES" sz="1600" b="1" dirty="0"/>
              <a:t>2013 – DeepMind (DQN)</a:t>
            </a:r>
          </a:p>
          <a:p>
            <a:pPr lvl="1"/>
            <a:r>
              <a:rPr lang="es-ES" sz="1400" dirty="0"/>
              <a:t>La IA aprende a jugar videojuegos Atari directamente de píxeles usando RL + Deep Learning.</a:t>
            </a:r>
          </a:p>
          <a:p>
            <a:r>
              <a:rPr lang="es-ES" sz="1600" b="1" dirty="0"/>
              <a:t>2016 – AlphaGo</a:t>
            </a:r>
          </a:p>
          <a:p>
            <a:pPr lvl="1"/>
            <a:r>
              <a:rPr lang="es-ES" sz="1400" dirty="0"/>
              <a:t>Una combinación de RL, redes profundas y búsqueda Monte Carlo derrota al campeón mundial de Go.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14672C7-C683-6D12-ADE4-8611A08FF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8.- Aprendizaje por Refuerzo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0C6EDBF-29B1-462C-576E-FF0CB2C91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Historia y motivación</a:t>
            </a:r>
            <a:endParaRPr lang="es-ES" noProof="1"/>
          </a:p>
        </p:txBody>
      </p:sp>
      <p:pic>
        <p:nvPicPr>
          <p:cNvPr id="5" name="Imagen 4" descr="Algoritmos evolutivos: cuando la inteligencia artificial se inspira en la  selección natural - Yahoo Noticias">
            <a:extLst>
              <a:ext uri="{FF2B5EF4-FFF2-40B4-BE49-F238E27FC236}">
                <a16:creationId xmlns:a16="http://schemas.microsoft.com/office/drawing/2014/main" id="{E5295661-2F6C-8D5F-EFBD-2F0F673B2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33" y="4650834"/>
            <a:ext cx="2376264" cy="1898536"/>
          </a:xfrm>
          <a:prstGeom prst="rect">
            <a:avLst/>
          </a:prstGeom>
        </p:spPr>
      </p:pic>
      <p:pic>
        <p:nvPicPr>
          <p:cNvPr id="2050" name="Picture 2" descr="GitHub - kuz/DeepMind-Atari-Deep-Q-Learner: The original code from the  DeepMind article + my tweaks">
            <a:extLst>
              <a:ext uri="{FF2B5EF4-FFF2-40B4-BE49-F238E27FC236}">
                <a16:creationId xmlns:a16="http://schemas.microsoft.com/office/drawing/2014/main" id="{D2A2BFBC-58DE-4076-53B4-08131EDCC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9941" y="4555987"/>
            <a:ext cx="1750080" cy="2088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lphaGo, la máquina invencible de Google">
            <a:extLst>
              <a:ext uri="{FF2B5EF4-FFF2-40B4-BE49-F238E27FC236}">
                <a16:creationId xmlns:a16="http://schemas.microsoft.com/office/drawing/2014/main" id="{E5E3D6F9-A846-DF80-EA90-FB51FE38B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418" y="4782279"/>
            <a:ext cx="2907815" cy="163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45BD9423-5606-AA6E-F5F7-E8DC410F311E}"/>
              </a:ext>
            </a:extLst>
          </p:cNvPr>
          <p:cNvSpPr/>
          <p:nvPr/>
        </p:nvSpPr>
        <p:spPr>
          <a:xfrm>
            <a:off x="2772100" y="5492090"/>
            <a:ext cx="576064" cy="216024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E6D4E09A-2015-6E26-AF27-C440AAE20065}"/>
              </a:ext>
            </a:extLst>
          </p:cNvPr>
          <p:cNvSpPr/>
          <p:nvPr/>
        </p:nvSpPr>
        <p:spPr>
          <a:xfrm>
            <a:off x="5298563" y="5492090"/>
            <a:ext cx="576064" cy="216024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6831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91551-6ABE-737A-249E-6E49F7184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E10CBFDE-F2B9-BF27-A1D5-1E3D7B6A2C2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5983851"/>
                  </p:ext>
                </p:extLst>
              </p:nvPr>
            </p:nvGraphicFramePr>
            <p:xfrm>
              <a:off x="251519" y="2204864"/>
              <a:ext cx="8605836" cy="4446928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016225">
                      <a:extLst>
                        <a:ext uri="{9D8B030D-6E8A-4147-A177-3AD203B41FA5}">
                          <a16:colId xmlns:a16="http://schemas.microsoft.com/office/drawing/2014/main" val="3107081936"/>
                        </a:ext>
                      </a:extLst>
                    </a:gridCol>
                    <a:gridCol w="3600400">
                      <a:extLst>
                        <a:ext uri="{9D8B030D-6E8A-4147-A177-3AD203B41FA5}">
                          <a16:colId xmlns:a16="http://schemas.microsoft.com/office/drawing/2014/main" val="3507165897"/>
                        </a:ext>
                      </a:extLst>
                    </a:gridCol>
                    <a:gridCol w="2989211">
                      <a:extLst>
                        <a:ext uri="{9D8B030D-6E8A-4147-A177-3AD203B41FA5}">
                          <a16:colId xmlns:a16="http://schemas.microsoft.com/office/drawing/2014/main" val="1243508423"/>
                        </a:ext>
                      </a:extLst>
                    </a:gridCol>
                  </a:tblGrid>
                  <a:tr h="4861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Componente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Descripción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Ejemplos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7132816"/>
                      </a:ext>
                    </a:extLst>
                  </a:tr>
                  <a:tr h="4861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Agente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El “cerebro” que aprende tomando decisiones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Robot, modelo RL, agente en un videojuego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69413392"/>
                      </a:ext>
                    </a:extLst>
                  </a:tr>
                  <a:tr h="4861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Entorno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El mundo donde actúa el agente. Responde a sus acciones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Juego Atari, simulador, entorno físico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71744953"/>
                      </a:ext>
                    </a:extLst>
                  </a:tr>
                  <a:tr h="4861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Estado (</a:t>
                          </a:r>
                          <a14:m>
                            <m:oMath xmlns:m="http://schemas.openxmlformats.org/officeDocument/2006/math">
                              <m:r>
                                <a:rPr lang="es-ES" sz="16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oMath>
                          </a14:m>
                          <a:r>
                            <a:rPr lang="es-ES" sz="1600" b="1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Representa la situación actual del entorno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Imagen del juego, posición, sensores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86887591"/>
                      </a:ext>
                    </a:extLst>
                  </a:tr>
                  <a:tr h="4861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Acción (</a:t>
                          </a:r>
                          <a14:m>
                            <m:oMath xmlns:m="http://schemas.openxmlformats.org/officeDocument/2006/math">
                              <m:r>
                                <a:rPr lang="es-ES" sz="1600" b="1" i="1" dirty="0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oMath>
                          </a14:m>
                          <a:r>
                            <a:rPr lang="es-ES" sz="1600" b="1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Decisión del agente en cada estado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Mover, girar, saltar, acelerar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4342534"/>
                      </a:ext>
                    </a:extLst>
                  </a:tr>
                  <a:tr h="4861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Recompensa (</a:t>
                          </a:r>
                          <a14:m>
                            <m:oMath xmlns:m="http://schemas.openxmlformats.org/officeDocument/2006/math">
                              <m:r>
                                <a:rPr lang="es-ES" sz="1600" b="1" i="1" dirty="0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oMath>
                          </a14:m>
                          <a:r>
                            <a:rPr lang="es-ES" sz="1600" b="1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Señal de feedback que indica lo bueno o malo de la acción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s-ES" sz="1600" i="1" dirty="0" smtClean="0">
                                  <a:latin typeface="Cambria Math" panose="02040503050406030204" pitchFamily="18" charset="0"/>
                                </a:rPr>
                                <m:t>+1 </m:t>
                              </m:r>
                            </m:oMath>
                          </a14:m>
                          <a:r>
                            <a:rPr lang="es-ES" sz="1600" dirty="0"/>
                            <a:t>por llegar, </a:t>
                          </a:r>
                          <a14:m>
                            <m:oMath xmlns:m="http://schemas.openxmlformats.org/officeDocument/2006/math">
                              <m:r>
                                <a:rPr lang="es-ES" sz="1600" i="1" dirty="0" smtClean="0">
                                  <a:latin typeface="Cambria Math" panose="02040503050406030204" pitchFamily="18" charset="0"/>
                                </a:rPr>
                                <m:t>–1</m:t>
                              </m:r>
                            </m:oMath>
                          </a14:m>
                          <a:r>
                            <a:rPr lang="es-ES" sz="1600" dirty="0"/>
                            <a:t> por chocar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67780112"/>
                      </a:ext>
                    </a:extLst>
                  </a:tr>
                  <a:tr h="4861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Política (</a:t>
                          </a:r>
                          <a14:m>
                            <m:oMath xmlns:m="http://schemas.openxmlformats.org/officeDocument/2006/math">
                              <m:r>
                                <a:rPr lang="el-GR" sz="1600" b="1" i="1" dirty="0" smtClean="0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oMath>
                          </a14:m>
                          <a:r>
                            <a:rPr lang="el-GR" sz="1600" b="1" dirty="0"/>
                            <a:t>)</a:t>
                          </a:r>
                          <a:endParaRPr lang="es-ES" sz="16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Regla/estrategia para elegir acciones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ES" sz="1600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es-ES" sz="16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sz="160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r>
                            <a:rPr lang="en-US" sz="1600" dirty="0"/>
                            <a:t>-Greedy, red neuronal</a:t>
                          </a:r>
                          <a:endParaRPr lang="es-E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94580751"/>
                      </a:ext>
                    </a:extLst>
                  </a:tr>
                  <a:tr h="4861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Retorno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Suma de recompensas futuras que el agente quiere maximizar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Objetivo del RL: maximizar </a:t>
                          </a:r>
                          <a14:m>
                            <m:oMath xmlns:m="http://schemas.openxmlformats.org/officeDocument/2006/math">
                              <m:r>
                                <a:rPr lang="es-ES" sz="160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es-E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05957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E10CBFDE-F2B9-BF27-A1D5-1E3D7B6A2C2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5983851"/>
                  </p:ext>
                </p:extLst>
              </p:nvPr>
            </p:nvGraphicFramePr>
            <p:xfrm>
              <a:off x="251519" y="2204864"/>
              <a:ext cx="8605836" cy="4446928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016225">
                      <a:extLst>
                        <a:ext uri="{9D8B030D-6E8A-4147-A177-3AD203B41FA5}">
                          <a16:colId xmlns:a16="http://schemas.microsoft.com/office/drawing/2014/main" val="3107081936"/>
                        </a:ext>
                      </a:extLst>
                    </a:gridCol>
                    <a:gridCol w="3600400">
                      <a:extLst>
                        <a:ext uri="{9D8B030D-6E8A-4147-A177-3AD203B41FA5}">
                          <a16:colId xmlns:a16="http://schemas.microsoft.com/office/drawing/2014/main" val="3507165897"/>
                        </a:ext>
                      </a:extLst>
                    </a:gridCol>
                    <a:gridCol w="2989211">
                      <a:extLst>
                        <a:ext uri="{9D8B030D-6E8A-4147-A177-3AD203B41FA5}">
                          <a16:colId xmlns:a16="http://schemas.microsoft.com/office/drawing/2014/main" val="1243508423"/>
                        </a:ext>
                      </a:extLst>
                    </a:gridCol>
                  </a:tblGrid>
                  <a:tr h="4861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Componente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Descripción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Ejemplos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7132816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Agente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El “cerebro” que aprende tomando decisiones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Robot, modelo RL, agente en un videojuego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69413392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Entorno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El mundo donde actúa el agente. Responde a sus acciones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Juego Atari, simulador, entorno físico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71744953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" t="-282292" r="-328097" b="-3927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Representa la situación actual del entorno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Imagen del juego, posición, sensores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86887591"/>
                      </a:ext>
                    </a:extLst>
                  </a:tr>
                  <a:tr h="486104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" t="-464557" r="-328097" b="-3772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Decisión del agente en cada estado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Mover, girar, saltar, acelerar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4342534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" t="-464583" r="-328097" b="-2104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Señal de feedback que indica lo bueno o malo de la acción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8367" t="-464583" r="-1020" b="-2104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7780112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" t="-570526" r="-328097" b="-11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Regla/estrategia para elegir acciones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8367" t="-570526" r="-1020" b="-11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4580751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Retorno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Suma de recompensas futuras que el agente quiere maximizar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8367" t="-670526" r="-1020" b="-1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059573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7636E8F-806A-D475-C206-8BF19B76D1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8.- Aprendizaje por Refuerzo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B548024-DADC-CF0E-4AFC-8472954C4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Componentes del Aprendizaje por Refuerzo</a:t>
            </a:r>
            <a:endParaRPr lang="es-ES" noProof="1"/>
          </a:p>
        </p:txBody>
      </p:sp>
    </p:spTree>
    <p:extLst>
      <p:ext uri="{BB962C8B-B14F-4D97-AF65-F5344CB8AC3E}">
        <p14:creationId xmlns:p14="http://schemas.microsoft.com/office/powerpoint/2010/main" val="2859312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C1C6D-AAAA-13F8-11DB-411A5B147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21339CEB-9795-064D-6A95-AD23750F5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283" y="2062979"/>
            <a:ext cx="8605935" cy="2016224"/>
          </a:xfrm>
        </p:spPr>
        <p:txBody>
          <a:bodyPr>
            <a:normAutofit/>
          </a:bodyPr>
          <a:lstStyle/>
          <a:p>
            <a:pPr marL="388620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800" b="1" dirty="0"/>
              <a:t>Exploración</a:t>
            </a:r>
          </a:p>
          <a:p>
            <a:r>
              <a:rPr lang="es-ES" sz="1600" noProof="1"/>
              <a:t>Probar acciones nuevas, incluso si parecen malas.</a:t>
            </a:r>
          </a:p>
          <a:p>
            <a:r>
              <a:rPr lang="es-ES" sz="1600" b="1" noProof="1"/>
              <a:t>Objetivo</a:t>
            </a:r>
            <a:r>
              <a:rPr lang="es-ES" sz="1600" noProof="1"/>
              <a:t>: descubrir mejores estrategias a largo plazo.</a:t>
            </a:r>
          </a:p>
          <a:p>
            <a:r>
              <a:rPr lang="es-ES" sz="1600" b="1" noProof="1"/>
              <a:t>Ejemplos</a:t>
            </a:r>
            <a:r>
              <a:rPr lang="es-ES" sz="1600" noProof="1"/>
              <a:t>:</a:t>
            </a:r>
          </a:p>
          <a:p>
            <a:pPr lvl="1"/>
            <a:r>
              <a:rPr lang="es-ES" sz="1400" noProof="1"/>
              <a:t>El robot prueba un camino nuevo.</a:t>
            </a:r>
          </a:p>
          <a:p>
            <a:pPr lvl="1"/>
            <a:r>
              <a:rPr lang="es-ES" sz="1400" noProof="1"/>
              <a:t>El agente de Atari pulsa un botón que nunca ha usado.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7CCEF41-134D-14BD-C574-6A77DE72BA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8.- Aprendizaje por Refuerzo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9879A50-0522-2708-1C98-34C3D7A3C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Exploración vs Explotación</a:t>
            </a:r>
            <a:endParaRPr lang="es-ES" noProof="1"/>
          </a:p>
        </p:txBody>
      </p:sp>
      <p:sp>
        <p:nvSpPr>
          <p:cNvPr id="6" name="Marcador de contenido 1">
            <a:extLst>
              <a:ext uri="{FF2B5EF4-FFF2-40B4-BE49-F238E27FC236}">
                <a16:creationId xmlns:a16="http://schemas.microsoft.com/office/drawing/2014/main" id="{6196B4FA-EC20-8F01-6E26-E1FA2EECA90F}"/>
              </a:ext>
            </a:extLst>
          </p:cNvPr>
          <p:cNvSpPr txBox="1">
            <a:spLocks/>
          </p:cNvSpPr>
          <p:nvPr/>
        </p:nvSpPr>
        <p:spPr>
          <a:xfrm>
            <a:off x="274283" y="4100492"/>
            <a:ext cx="5809885" cy="4752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862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s-ES" sz="1800" b="1" dirty="0"/>
              <a:t>Explotación</a:t>
            </a:r>
          </a:p>
          <a:p>
            <a:r>
              <a:rPr lang="es-ES" sz="1600" noProof="1"/>
              <a:t>Usar lo que ya sabe para obtener alta recompensa inmediata.</a:t>
            </a:r>
          </a:p>
          <a:p>
            <a:r>
              <a:rPr lang="es-ES" sz="1600" b="1" noProof="1"/>
              <a:t>Objetivo</a:t>
            </a:r>
            <a:r>
              <a:rPr lang="es-ES" sz="1600" noProof="1"/>
              <a:t>: maximizar el rendimiento en base al conocimiento actual.</a:t>
            </a:r>
          </a:p>
          <a:p>
            <a:r>
              <a:rPr lang="es-ES" sz="1600" b="1" noProof="1"/>
              <a:t>Ejemplos</a:t>
            </a:r>
            <a:r>
              <a:rPr lang="es-ES" sz="1600" noProof="1"/>
              <a:t>:</a:t>
            </a:r>
          </a:p>
          <a:p>
            <a:pPr lvl="1"/>
            <a:r>
              <a:rPr lang="es-ES" sz="1400" noProof="1"/>
              <a:t>El agente repite una acción que ya le dio recompensa.</a:t>
            </a:r>
          </a:p>
          <a:p>
            <a:pPr lvl="1"/>
            <a:r>
              <a:rPr lang="es-ES" sz="1400" noProof="1"/>
              <a:t>En un videojuego, sigue la ruta “segura”.</a:t>
            </a:r>
          </a:p>
        </p:txBody>
      </p:sp>
      <p:pic>
        <p:nvPicPr>
          <p:cNvPr id="3074" name="Picture 2" descr="Day 92/100: Exploration vs. Exploitation — Balancing Curiosity and Control  | by Sebastian Buzdugan | Medium">
            <a:extLst>
              <a:ext uri="{FF2B5EF4-FFF2-40B4-BE49-F238E27FC236}">
                <a16:creationId xmlns:a16="http://schemas.microsoft.com/office/drawing/2014/main" id="{E5B9A932-1091-7106-E390-9682FD498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9420" y="2246316"/>
            <a:ext cx="2304256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 descr="Imagen que contiene Calendario&#10;&#10;El contenido generado por IA puede ser incorrecto.">
            <a:extLst>
              <a:ext uri="{FF2B5EF4-FFF2-40B4-BE49-F238E27FC236}">
                <a16:creationId xmlns:a16="http://schemas.microsoft.com/office/drawing/2014/main" id="{87968908-9CE3-88D3-8BDD-04F7FD254B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4616816"/>
            <a:ext cx="2914840" cy="194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135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CA13C-48F1-0C33-087F-10F57C4AB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4DB48694-4EAA-70FD-03B2-C4F219C10A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9032" y="2132856"/>
                <a:ext cx="8605935" cy="4608511"/>
              </a:xfrm>
            </p:spPr>
            <p:txBody>
              <a:bodyPr>
                <a:normAutofit/>
              </a:bodyPr>
              <a:lstStyle/>
              <a:p>
                <a:r>
                  <a:rPr lang="es-ES" sz="1600" dirty="0"/>
                  <a:t>La estrategia </a:t>
                </a:r>
                <a14:m>
                  <m:oMath xmlns:m="http://schemas.openxmlformats.org/officeDocument/2006/math">
                    <m:r>
                      <a:rPr lang="es-ES" sz="1600" b="1" i="1" dirty="0" smtClean="0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s-ES" sz="1600" b="1" dirty="0"/>
                  <a:t>-Greedy</a:t>
                </a:r>
                <a:r>
                  <a:rPr lang="es-ES" sz="1600" dirty="0"/>
                  <a:t> es la forma más común y sencilla de equilibrar </a:t>
                </a:r>
                <a:r>
                  <a:rPr lang="es-ES" sz="1600" b="1" dirty="0"/>
                  <a:t>exploración</a:t>
                </a:r>
                <a:r>
                  <a:rPr lang="es-ES" sz="1600" dirty="0"/>
                  <a:t> y </a:t>
                </a:r>
                <a:r>
                  <a:rPr lang="es-ES" sz="1600" b="1" dirty="0"/>
                  <a:t>explotación</a:t>
                </a:r>
                <a:r>
                  <a:rPr lang="es-ES" sz="1600" dirty="0"/>
                  <a:t> en Aprendizaje por Refuerzo.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1600" b="1" noProof="1"/>
                  <a:t>Cómo funciona</a:t>
                </a:r>
                <a:r>
                  <a:rPr lang="es-ES" sz="1600" noProof="1"/>
                  <a:t>:</a:t>
                </a:r>
                <a:endParaRPr lang="es-ES" sz="1600" b="1" noProof="1"/>
              </a:p>
              <a:p>
                <a:r>
                  <a:rPr lang="es-ES" sz="1600" noProof="1"/>
                  <a:t>En cada paso, el agente decide:</a:t>
                </a:r>
              </a:p>
              <a:p>
                <a:r>
                  <a:rPr lang="es-ES" sz="1600" b="1" noProof="1"/>
                  <a:t>Con probabilidad </a:t>
                </a:r>
                <a14:m>
                  <m:oMath xmlns:m="http://schemas.openxmlformats.org/officeDocument/2006/math">
                    <m:r>
                      <a:rPr lang="es-ES" sz="1600" b="1" i="0" noProof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ES" sz="1600" b="1" i="0" noProof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1600" b="1" i="1" noProof="1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s-ES" sz="1600" b="1" noProof="1"/>
                  <a:t> → Explotar</a:t>
                </a:r>
              </a:p>
              <a:p>
                <a:pPr lvl="1"/>
                <a:r>
                  <a:rPr lang="es-ES" sz="1400" noProof="1"/>
                  <a:t>Elegir la mejor acción conocida hasta ahora.</a:t>
                </a:r>
              </a:p>
              <a:p>
                <a:r>
                  <a:rPr lang="es-ES" sz="1600" b="1" noProof="1"/>
                  <a:t>Con probabilidad </a:t>
                </a:r>
                <a14:m>
                  <m:oMath xmlns:m="http://schemas.openxmlformats.org/officeDocument/2006/math">
                    <m:r>
                      <a:rPr lang="es-ES" sz="1600" b="1" i="1" noProof="1" smtClean="0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s-ES" sz="1600" b="1" noProof="1"/>
                  <a:t> → Explorar</a:t>
                </a:r>
              </a:p>
              <a:p>
                <a:pPr lvl="1"/>
                <a:r>
                  <a:rPr lang="es-ES" sz="1400" noProof="1"/>
                  <a:t>Elegir una acción aleatoria para descubrir nuevas                                                                    opciones.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1600" b="1" noProof="1"/>
                  <a:t>Valores típicos de </a:t>
                </a:r>
                <a14:m>
                  <m:oMath xmlns:m="http://schemas.openxmlformats.org/officeDocument/2006/math">
                    <m:r>
                      <a:rPr lang="es-ES" sz="1600" b="1" i="1" noProof="1" smtClean="0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s-ES" sz="1600" noProof="1"/>
                  <a:t>:</a:t>
                </a:r>
                <a:endParaRPr lang="es-ES" sz="1600" b="1" noProof="1"/>
              </a:p>
              <a:p>
                <a:pPr lvl="1"/>
                <a14:m>
                  <m:oMath xmlns:m="http://schemas.openxmlformats.org/officeDocument/2006/math">
                    <m:r>
                      <a:rPr lang="es-ES" sz="1400" i="1" noProof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s-ES" sz="1400" i="1" noProof="1" smtClean="0">
                        <a:latin typeface="Cambria Math" panose="02040503050406030204" pitchFamily="18" charset="0"/>
                      </a:rPr>
                      <m:t> = 0.1 </m:t>
                    </m:r>
                  </m:oMath>
                </a14:m>
                <a:r>
                  <a:rPr lang="es-ES" sz="1400" noProof="1"/>
                  <a:t>→ Explora 10% del tiempo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sz="1400" i="1" noProof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s-ES" sz="1400" i="1" noProof="1" smtClean="0">
                        <a:latin typeface="Cambria Math" panose="02040503050406030204" pitchFamily="18" charset="0"/>
                      </a:rPr>
                      <m:t> = 0.01 </m:t>
                    </m:r>
                  </m:oMath>
                </a14:m>
                <a:r>
                  <a:rPr lang="es-ES" sz="1400" noProof="1"/>
                  <a:t>→ Explora 1% del tiempo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sz="1400" b="1" i="1" noProof="1" smtClean="0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s-ES" sz="1400" b="1" noProof="1"/>
                  <a:t> alto </a:t>
                </a:r>
                <a:r>
                  <a:rPr lang="es-ES" sz="1400" noProof="1"/>
                  <a:t>→ más exploración, aprendizaje más variado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sz="1400" b="1" i="1" noProof="1" smtClean="0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s-ES" sz="1400" b="1" noProof="1"/>
                  <a:t> bajo </a:t>
                </a:r>
                <a:r>
                  <a:rPr lang="es-ES" sz="1400" noProof="1"/>
                  <a:t>→ decisiones más estables, pero riesgo de                                                                   estancarse</a:t>
                </a:r>
              </a:p>
            </p:txBody>
          </p:sp>
        </mc:Choice>
        <mc:Fallback xmlns=""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4DB48694-4EAA-70FD-03B2-C4F219C10A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9032" y="2132856"/>
                <a:ext cx="8605935" cy="4608511"/>
              </a:xfrm>
              <a:blipFill>
                <a:blip r:embed="rId2"/>
                <a:stretch>
                  <a:fillRect t="-39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B070FEF-6795-E01B-EE1F-6BE6AFC92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8.- Aprendizaje por Refuerzo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ítulo 3">
                <a:extLst>
                  <a:ext uri="{FF2B5EF4-FFF2-40B4-BE49-F238E27FC236}">
                    <a16:creationId xmlns:a16="http://schemas.microsoft.com/office/drawing/2014/main" id="{FC5F559B-310D-D748-DD49-DD88C75B606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" dirty="0"/>
                  <a:t>Estrategia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dirty="0"/>
                  <a:t>-</a:t>
                </a:r>
                <a:r>
                  <a:rPr lang="es-ES" dirty="0"/>
                  <a:t>Greedy</a:t>
                </a:r>
                <a:endParaRPr lang="es-ES" noProof="1"/>
              </a:p>
            </p:txBody>
          </p:sp>
        </mc:Choice>
        <mc:Fallback xmlns="">
          <p:sp>
            <p:nvSpPr>
              <p:cNvPr id="4" name="Título 3">
                <a:extLst>
                  <a:ext uri="{FF2B5EF4-FFF2-40B4-BE49-F238E27FC236}">
                    <a16:creationId xmlns:a16="http://schemas.microsoft.com/office/drawing/2014/main" id="{FC5F559B-310D-D748-DD49-DD88C75B60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416" b="-101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 descr="Gráfico&#10;&#10;El contenido generado por IA puede ser incorrecto.">
            <a:extLst>
              <a:ext uri="{FF2B5EF4-FFF2-40B4-BE49-F238E27FC236}">
                <a16:creationId xmlns:a16="http://schemas.microsoft.com/office/drawing/2014/main" id="{272C0703-4769-00B4-D59C-7758A7720B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3613" y="4537660"/>
            <a:ext cx="2901898" cy="2176424"/>
          </a:xfrm>
          <a:prstGeom prst="rect">
            <a:avLst/>
          </a:prstGeom>
        </p:spPr>
      </p:pic>
      <p:pic>
        <p:nvPicPr>
          <p:cNvPr id="10" name="Imagen 9" descr="Imad Dabbura - Bandit Algorithms: epsilon-Greedy Algorithm">
            <a:extLst>
              <a:ext uri="{FF2B5EF4-FFF2-40B4-BE49-F238E27FC236}">
                <a16:creationId xmlns:a16="http://schemas.microsoft.com/office/drawing/2014/main" id="{424D0CC5-4886-772D-D1D6-3D40555000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6096" y="2564904"/>
            <a:ext cx="3156933" cy="181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79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9620D-20D8-BAB3-9180-AF9C4F691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54104D1E-1859-D2C0-370B-9B0A1F22AD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9032" y="2060848"/>
                <a:ext cx="8605935" cy="4680519"/>
              </a:xfrm>
            </p:spPr>
            <p:txBody>
              <a:bodyPr>
                <a:normAutofit/>
              </a:bodyPr>
              <a:lstStyle/>
              <a:p>
                <a:r>
                  <a:rPr lang="es-ES" sz="1600" dirty="0"/>
                  <a:t>La </a:t>
                </a:r>
                <a:r>
                  <a:rPr lang="es-ES" sz="1600" b="1" dirty="0"/>
                  <a:t>Ecuación de Bellman </a:t>
                </a:r>
                <a:r>
                  <a:rPr lang="es-ES" sz="1600" dirty="0"/>
                  <a:t>es el corazón matemático del Aprendizaje por Refuerzo.</a:t>
                </a:r>
              </a:p>
              <a:p>
                <a:r>
                  <a:rPr lang="es-ES" sz="1600" dirty="0"/>
                  <a:t>Describe cómo descomponer un problema secuencial 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1600" i="0" dirty="0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sz="160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ES" sz="1600" i="0" dirty="0" smtClean="0">
                        <a:latin typeface="Cambria Math" panose="02040503050406030204" pitchFamily="18" charset="0"/>
                      </a:rPr>
                      <m:t>inmediato</m:t>
                    </m:r>
                    <m:r>
                      <a:rPr lang="es-ES" sz="1600" i="0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m:rPr>
                        <m:sty m:val="p"/>
                      </m:rPr>
                      <a:rPr lang="es-ES" sz="1600" i="0" dirty="0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sz="160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ES" sz="1600" i="0" dirty="0" smtClean="0">
                        <a:latin typeface="Cambria Math" panose="02040503050406030204" pitchFamily="18" charset="0"/>
                      </a:rPr>
                      <m:t>futuro</m:t>
                    </m:r>
                  </m:oMath>
                </a14:m>
                <a:r>
                  <a:rPr lang="es-ES" sz="16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1600" noProof="1"/>
                  <a:t>El </a:t>
                </a:r>
                <a:r>
                  <a:rPr lang="es-ES" sz="1600" b="1" noProof="1"/>
                  <a:t>valor</a:t>
                </a:r>
                <a:r>
                  <a:rPr lang="es-ES" sz="1600" noProof="1"/>
                  <a:t> de un estado </a:t>
                </a:r>
                <a14:m>
                  <m:oMath xmlns:m="http://schemas.openxmlformats.org/officeDocument/2006/math">
                    <m:r>
                      <a:rPr lang="es-ES" sz="1600" b="1" i="1" noProof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s-ES" sz="1600" b="1" i="1" noProof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1600" b="1" i="1" noProof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s-ES" sz="1600" b="1" i="1" noProof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s-ES" sz="1600" noProof="1"/>
                  <a:t>es:</a:t>
                </a:r>
              </a:p>
              <a:p>
                <a:pPr marL="45720" indent="0" algn="ctr">
                  <a:buNone/>
                </a:pPr>
                <a:r>
                  <a:rPr lang="es-ES" sz="1600" i="1" noProof="1"/>
                  <a:t>“La recompensa que consigo ahora + lo que espero ganar en el futuro si sigo mi política.”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" sz="1400" noProof="1"/>
                  <a:t>Es decir, se puede calcular </a:t>
                </a:r>
                <a:r>
                  <a:rPr lang="es-ES" sz="1400" b="1" noProof="1"/>
                  <a:t>de manera recursiva</a:t>
                </a:r>
                <a:r>
                  <a:rPr lang="es-ES" sz="1400" noProof="1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1600" b="1" dirty="0"/>
                  <a:t>Forma General</a:t>
                </a:r>
              </a:p>
              <a:p>
                <a:pPr marL="4572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1600" b="0" i="1" noProof="1" smtClean="0">
                          <a:latin typeface="Cambria Math" panose="02040503050406030204" pitchFamily="18" charset="0"/>
                        </a:rPr>
                        <m:t>                                  </m:t>
                      </m:r>
                      <m:r>
                        <a:rPr lang="es-ES" sz="1600" b="0" i="1" noProof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s-ES" sz="1600" i="1" noProof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600" b="0" i="1" noProof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s-ES" sz="1600" b="0" i="1" noProof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600" b="0" i="1" noProof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1600" i="1" noProof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600" b="0" i="1" noProof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s-ES" sz="1600" b="0" i="1" noProof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600" b="0" i="1" noProof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r>
                            <a:rPr lang="es-ES" sz="1600" b="0" i="1" noProof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s-ES" sz="1600" i="1" noProof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ES" sz="1600" i="1" noProof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1600" b="0" i="1" noProof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s-ES" sz="1600" b="0" i="1" noProof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s-ES" sz="1600" noProof="1"/>
              </a:p>
              <a:p>
                <a:pPr lvl="1"/>
                <a14:m>
                  <m:oMath xmlns:m="http://schemas.openxmlformats.org/officeDocument/2006/math">
                    <m:r>
                      <a:rPr lang="es-ES" sz="1400" b="1" i="1" noProof="1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s-ES" sz="1400" noProof="1"/>
                  <a:t> → recompensa inmediata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l-GR" sz="1400" b="1" i="1" noProof="1" smtClean="0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l-GR" sz="1400" noProof="1"/>
                  <a:t> (</a:t>
                </a:r>
                <a:r>
                  <a:rPr lang="es-ES" sz="1400" noProof="1"/>
                  <a:t>gamma) → factor de descuento (0–1)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sz="1400" b="1" i="1" noProof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s-ES" sz="1400" b="1" i="1" noProof="1" smtClean="0">
                        <a:latin typeface="Cambria Math" panose="02040503050406030204" pitchFamily="18" charset="0"/>
                      </a:rPr>
                      <m:t>’ </m:t>
                    </m:r>
                  </m:oMath>
                </a14:m>
                <a:r>
                  <a:rPr lang="es-ES" sz="1400" noProof="1"/>
                  <a:t>→ siguiente estado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sz="1400" b="1" i="1" noProof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</m:oMath>
                </a14:m>
                <a:r>
                  <a:rPr lang="es-ES" sz="1400" noProof="1"/>
                  <a:t> → esperanza (promedio ponderado)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1600" b="1" dirty="0"/>
                  <a:t>Q-learning (forma acción-valor)</a:t>
                </a:r>
              </a:p>
              <a:p>
                <a:pPr marL="4572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1600" b="0" i="1" noProof="1" smtClean="0">
                          <a:latin typeface="Cambria Math" panose="02040503050406030204" pitchFamily="18" charset="0"/>
                        </a:rPr>
                        <m:t>                             </m:t>
                      </m:r>
                      <m:r>
                        <a:rPr lang="es-ES" sz="1600" b="0" i="1" noProof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s-ES" sz="1600" i="1" noProof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600" i="1" noProof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ES" sz="1600" b="0" i="1" noProof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1600" b="0" i="1" noProof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s-ES" sz="1600" i="1" noProof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600" b="0" i="1" noProof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ES" sz="1600" b="0" i="1" noProof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1600" i="1" noProof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func>
                        <m:funcPr>
                          <m:ctrlPr>
                            <a:rPr lang="es-ES" sz="1600" i="1" noProof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ES" sz="1600" i="1" noProof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ES" sz="1600" i="0" noProof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es-ES" sz="1600" b="0" i="1" noProof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1600" b="0" i="1" noProof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s-ES" sz="1600" b="0" i="1" noProof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a:rPr lang="es-ES" sz="1600" b="0" i="1" noProof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r>
                            <a:rPr lang="es-ES" sz="1600" b="0" i="1" noProof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s-ES" sz="1600" b="0" i="1" noProof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1600" b="0" i="1" noProof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s-ES" sz="1600" b="0" i="1" noProof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s-ES" sz="1600" b="0" i="1" noProof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s-ES" sz="1600" b="0" i="1" noProof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1600" b="0" i="1" noProof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s-ES" sz="1600" b="0" i="1" noProof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s-ES" sz="1600" b="0" i="1" noProof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s-ES" sz="1600" noProof="1"/>
              </a:p>
              <a:p>
                <a:pPr lvl="1"/>
                <a:r>
                  <a:rPr lang="es-ES" sz="1400" dirty="0"/>
                  <a:t>Aquí el agente elige la </a:t>
                </a:r>
                <a:r>
                  <a:rPr lang="es-ES" sz="1400" b="1" dirty="0"/>
                  <a:t>mejor acción futura</a:t>
                </a:r>
                <a:r>
                  <a:rPr lang="es-ES" sz="1400" dirty="0"/>
                  <a:t>.</a:t>
                </a:r>
                <a:endParaRPr lang="es-ES" sz="1400" noProof="1"/>
              </a:p>
            </p:txBody>
          </p:sp>
        </mc:Choice>
        <mc:Fallback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54104D1E-1859-D2C0-370B-9B0A1F22AD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9032" y="2060848"/>
                <a:ext cx="8605935" cy="4680519"/>
              </a:xfrm>
              <a:blipFill>
                <a:blip r:embed="rId2"/>
                <a:stretch>
                  <a:fillRect t="-391" b="-104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15D3D1-EE33-2DCB-DB98-10A5AE3B1F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8.- Aprendizaje por Refuerzo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ECBCCA2-4EF7-244C-F751-CCE2D4C72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Ecuación de Bellman</a:t>
            </a:r>
            <a:endParaRPr lang="es-ES" noProof="1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1319003-DA0C-B414-6D57-22F33FAEC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704" y="4020645"/>
            <a:ext cx="4209087" cy="2376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7364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a">
  <a:themeElements>
    <a:clrScheme name="Personalizado 2">
      <a:dk1>
        <a:srgbClr val="000000"/>
      </a:dk1>
      <a:lt1>
        <a:srgbClr val="FFFFFF"/>
      </a:lt1>
      <a:dk2>
        <a:srgbClr val="345C97"/>
      </a:dk2>
      <a:lt2>
        <a:srgbClr val="FFFFFF"/>
      </a:lt2>
      <a:accent1>
        <a:srgbClr val="838D9B"/>
      </a:accent1>
      <a:accent2>
        <a:srgbClr val="345C97"/>
      </a:accent2>
      <a:accent3>
        <a:srgbClr val="80716A"/>
      </a:accent3>
      <a:accent4>
        <a:srgbClr val="FF8600"/>
      </a:accent4>
      <a:accent5>
        <a:srgbClr val="345C97"/>
      </a:accent5>
      <a:accent6>
        <a:srgbClr val="5D5AD2"/>
      </a:accent6>
      <a:hlink>
        <a:srgbClr val="345C97"/>
      </a:hlink>
      <a:folHlink>
        <a:srgbClr val="FF8600"/>
      </a:folHlink>
    </a:clrScheme>
    <a:fontScheme name="Clásico de Office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36963</TotalTime>
  <Words>710</Words>
  <Application>Microsoft Office PowerPoint</Application>
  <PresentationFormat>Presentación en pantalla (4:3)</PresentationFormat>
  <Paragraphs>94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 Math</vt:lpstr>
      <vt:lpstr>Wingdings</vt:lpstr>
      <vt:lpstr>Perspectiva</vt:lpstr>
      <vt:lpstr>Tema 8.- Aprendizaje por Refuerzo</vt:lpstr>
      <vt:lpstr>¿Qué es el Aprendizaje por Refuerzo (RL)?</vt:lpstr>
      <vt:lpstr>Historia y motivación</vt:lpstr>
      <vt:lpstr>Componentes del Aprendizaje por Refuerzo</vt:lpstr>
      <vt:lpstr>Exploración vs Explotación</vt:lpstr>
      <vt:lpstr>Estrategia ε-Greedy</vt:lpstr>
      <vt:lpstr>Ecuación de Bellman</vt:lpstr>
    </vt:vector>
  </TitlesOfParts>
  <Company>U-TAD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Eva Perandones Serrano</dc:creator>
  <cp:lastModifiedBy>Jorge Tesch</cp:lastModifiedBy>
  <cp:revision>203</cp:revision>
  <dcterms:created xsi:type="dcterms:W3CDTF">2013-10-15T13:27:45Z</dcterms:created>
  <dcterms:modified xsi:type="dcterms:W3CDTF">2025-11-29T16:50:54Z</dcterms:modified>
</cp:coreProperties>
</file>